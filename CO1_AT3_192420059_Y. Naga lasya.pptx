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918106791877" userId="d1f2788149f4f2ba" providerId="LiveId" clId="{4CD11D9E-7FF3-43FB-97F1-ED0F8ED47FF4}"/>
    <pc:docChg chg="modSld">
      <pc:chgData name="918106791877" userId="d1f2788149f4f2ba" providerId="LiveId" clId="{4CD11D9E-7FF3-43FB-97F1-ED0F8ED47FF4}" dt="2026-07-23T09:17:23.395" v="2" actId="20577"/>
      <pc:docMkLst>
        <pc:docMk/>
      </pc:docMkLst>
      <pc:sldChg chg="modSp mod">
        <pc:chgData name="918106791877" userId="d1f2788149f4f2ba" providerId="LiveId" clId="{4CD11D9E-7FF3-43FB-97F1-ED0F8ED47FF4}" dt="2026-07-23T09:17:23.395" v="2" actId="20577"/>
        <pc:sldMkLst>
          <pc:docMk/>
          <pc:sldMk cId="1831336456" sldId="256"/>
        </pc:sldMkLst>
        <pc:spChg chg="mod">
          <ac:chgData name="918106791877" userId="d1f2788149f4f2ba" providerId="LiveId" clId="{4CD11D9E-7FF3-43FB-97F1-ED0F8ED47FF4}" dt="2026-07-23T09:17:23.395" v="2" actId="20577"/>
          <ac:spMkLst>
            <pc:docMk/>
            <pc:sldMk cId="1831336456" sldId="256"/>
            <ac:spMk id="2" creationId="{F4393E0E-AC8C-7D22-A62A-7A40CE8228D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AF790-DCDE-C151-CF03-6A0FEDEA6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FEDAE-EF4B-0AD4-F628-9F43DBD63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48292-0532-7932-B36E-432FDB57D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3B831-30FA-4B02-8586-21193B03BD9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2BFBF-43B5-64BD-7948-9C7ED9BB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DF41-A86D-8123-6F02-75E63784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C481-95AC-4AA1-BBA2-11DD03EB7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890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D276-85AF-F9E6-615F-2ABC6EEF1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0D933-F0D2-91C3-D4FB-1FF44E363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810B-BC29-C075-5DA5-D806D9DF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3B831-30FA-4B02-8586-21193B03BD9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77F7E-DEF9-91EB-3239-07061DECF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2A99F-4947-F47F-01EA-093C08E5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C481-95AC-4AA1-BBA2-11DD03EB7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81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11F3-B6B9-4FFB-49C9-FBAA5D3A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6DE33-BE0B-D866-19D4-8974D0D70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486F0-E358-5992-489B-337440E2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3B831-30FA-4B02-8586-21193B03BD9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36D32-AAB4-35DE-FB74-54D21FD7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88103-0B99-E49B-6695-CE426FC2A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C481-95AC-4AA1-BBA2-11DD03EB7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78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FA22-C807-930B-D167-314F4969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8B903-ACFE-43B3-6065-4C8AB35C2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3A5D5-8A44-C09F-1499-AD48D6312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EC7A7-2435-FB58-4403-328B18F0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3B831-30FA-4B02-8586-21193B03BD9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F2727-C645-9286-C255-9E71D47C5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92087-7B5C-694D-27E1-75416841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C481-95AC-4AA1-BBA2-11DD03EB7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290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291DE-7F94-0E78-7B8E-D5E01C6D2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EF043-E558-1448-4DDE-6E482D568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D1A53-EA69-789E-B3BD-E20DA3807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4F50A-83F1-BB36-2E9E-CBA35D14E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B1F44-B43E-317C-272A-FF03A2F270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153711-14DB-FB12-ACD8-E4F3C226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3B831-30FA-4B02-8586-21193B03BD9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22F1FA-3C7B-E387-737C-13738F2F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DB8E2-D49B-DB7C-3B54-EAA19A53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C481-95AC-4AA1-BBA2-11DD03EB7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00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8E84-AA50-7D20-2557-A1706C52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194D4-4CF3-1025-7A0E-F60632BA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3B831-30FA-4B02-8586-21193B03BD9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7AEF4B-A3BC-B972-C344-6953913D4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CADE3-62A1-88AC-93CD-00E9B011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C481-95AC-4AA1-BBA2-11DD03EB7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18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984230-C914-8C99-FB49-C8633D8B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3B831-30FA-4B02-8586-21193B03BD9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AC039D-4F23-76B6-8DA4-EA1006464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5AB06-F2EA-6794-0A4D-E2E9B6AF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C481-95AC-4AA1-BBA2-11DD03EB7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602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97A9-4DAA-4537-E638-239B01FE6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B4DF4-AB9B-CD23-D9D9-06DE398D9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3CFDA-53C7-102E-974F-9105A22AE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3C9DA-300C-BCFB-9144-F7E43BEEA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3B831-30FA-4B02-8586-21193B03BD9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1D759-304D-B11E-3D43-4A2DE3EF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DD840-EF0D-6E2F-4478-305917A06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C481-95AC-4AA1-BBA2-11DD03EB7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817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8FC4D-FC79-25DF-7522-16CBC554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E320D-8CFE-3931-699C-7DA08385EE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D17C4-4A69-F55C-52CA-09336B869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D293C-DC63-76C1-7A67-36501ABAB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3B831-30FA-4B02-8586-21193B03BD9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42296-4751-E6D5-ED61-569A012E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7C5FF-E28B-05E3-97F1-DA42EC0A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C481-95AC-4AA1-BBA2-11DD03EB7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76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26FFD-5EE1-CD0B-BE1D-11693C7B0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113F4-B9E8-4A7E-1EF0-AF13DFBC5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8B1BB-9F3D-7358-0E6E-232D97F6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3B831-30FA-4B02-8586-21193B03BD9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8DF55-6C42-EF41-5D8C-411B1FE2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E748B-7093-7E58-C22F-54056150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C481-95AC-4AA1-BBA2-11DD03EB7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75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D20EC8-FCE4-03DC-ACD1-D5FDCC10C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3A9C6-D868-4D17-84B1-B12513455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2C6DD-6FCD-73B5-CC7A-EA338499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3B831-30FA-4B02-8586-21193B03BD9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ACA57-DF68-8821-16CE-EABDC6C0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27D10-C6A2-3496-0DC2-2C57A54E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C481-95AC-4AA1-BBA2-11DD03EB7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78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85EA0F-826D-B96B-A7D9-84996888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2C9B8-284A-FE4F-D332-894A0A8CA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2859D-839C-CEF2-344F-5580492E98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3B831-30FA-4B02-8586-21193B03BD9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62B34-189C-7E74-F9D7-83EB98F29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D2C1E-2119-85A3-DEB7-DE46DF693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1C481-95AC-4AA1-BBA2-11DD03EB7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29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database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3E0E-AC8C-7D22-A62A-7A40CE8228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 of a DBMS, explaining query processor, storage manager, and transaction manager.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D0BF5-4357-51D9-B5FB-E146C6D4C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9023" y="3996267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US" dirty="0"/>
              <a:t>y. Naga lasya</a:t>
            </a:r>
          </a:p>
          <a:p>
            <a:pPr algn="r"/>
            <a:r>
              <a:rPr lang="en-US" dirty="0"/>
              <a:t>192420059</a:t>
            </a:r>
          </a:p>
          <a:p>
            <a:pPr algn="r"/>
            <a:r>
              <a:rPr lang="en-US" dirty="0"/>
              <a:t>BE bioinformatics</a:t>
            </a:r>
          </a:p>
          <a:p>
            <a:pPr algn="r"/>
            <a:r>
              <a:rPr lang="en-US" dirty="0"/>
              <a:t>CSA0508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336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573A9-5F44-FEC7-9624-05077F37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DBMS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0925CB-EA23-26F7-0F71-F1FA1B994A63}"/>
              </a:ext>
            </a:extLst>
          </p:cNvPr>
          <p:cNvSpPr txBox="1"/>
          <p:nvPr/>
        </p:nvSpPr>
        <p:spPr>
          <a:xfrm>
            <a:off x="838200" y="1490633"/>
            <a:ext cx="6096000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DBMS?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55A68-9531-FCE3-EC67-501EA0BC5396}"/>
              </a:ext>
            </a:extLst>
          </p:cNvPr>
          <p:cNvSpPr txBox="1"/>
          <p:nvPr/>
        </p:nvSpPr>
        <p:spPr>
          <a:xfrm>
            <a:off x="838199" y="2024095"/>
            <a:ext cx="6899787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software that allows users to create, store, retrieve, update, and manage data efficiently.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D4794-F32B-D49D-AE93-4BA68D59C466}"/>
              </a:ext>
            </a:extLst>
          </p:cNvPr>
          <p:cNvSpPr txBox="1"/>
          <p:nvPr/>
        </p:nvSpPr>
        <p:spPr>
          <a:xfrm>
            <a:off x="838199" y="3399582"/>
            <a:ext cx="6096000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Software Components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01476B-EB60-2FB7-AB39-5B0E4CC5D73D}"/>
              </a:ext>
            </a:extLst>
          </p:cNvPr>
          <p:cNvSpPr txBox="1"/>
          <p:nvPr/>
        </p:nvSpPr>
        <p:spPr>
          <a:xfrm>
            <a:off x="838199" y="4385875"/>
            <a:ext cx="6096000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Query Processor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Storage Manager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Transaction Manager</a:t>
            </a:r>
          </a:p>
        </p:txBody>
      </p:sp>
      <p:pic>
        <p:nvPicPr>
          <p:cNvPr id="11" name="Picture 10" descr="The Ultimate DBMS Mastery Guide for Modern Developers- Part I:  Comprehensive DBMS Foundation | by Bhargava Koya - Fullstack .NET Developer  | Medium">
            <a:extLst>
              <a:ext uri="{FF2B5EF4-FFF2-40B4-BE49-F238E27FC236}">
                <a16:creationId xmlns:a16="http://schemas.microsoft.com/office/drawing/2014/main" id="{8CA7807B-A610-6A82-D159-0FF255B25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09" y="1573160"/>
            <a:ext cx="4414685" cy="458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30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84BFC-94A7-25A6-0054-FEA2F110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038F78-6DFD-1CA4-DC6F-C85DAD3C1176}"/>
              </a:ext>
            </a:extLst>
          </p:cNvPr>
          <p:cNvSpPr txBox="1"/>
          <p:nvPr/>
        </p:nvSpPr>
        <p:spPr>
          <a:xfrm>
            <a:off x="838200" y="154581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8B4055-56A5-171E-33B6-072947F986B6}"/>
              </a:ext>
            </a:extLst>
          </p:cNvPr>
          <p:cNvSpPr txBox="1"/>
          <p:nvPr/>
        </p:nvSpPr>
        <p:spPr>
          <a:xfrm>
            <a:off x="838200" y="20767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Processes SQL queries submitted by users.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971CF-19A6-2E72-ABBC-E78B34083FE1}"/>
              </a:ext>
            </a:extLst>
          </p:cNvPr>
          <p:cNvSpPr txBox="1"/>
          <p:nvPr/>
        </p:nvSpPr>
        <p:spPr>
          <a:xfrm>
            <a:off x="759542" y="2515362"/>
            <a:ext cx="6096000" cy="364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Parses SQL queries.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syntax and validity.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query execution.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queries efficiently.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query processing.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use of system resources.</a:t>
            </a:r>
          </a:p>
        </p:txBody>
      </p:sp>
      <p:pic>
        <p:nvPicPr>
          <p:cNvPr id="9" name="Picture 8" descr="Query Processing in SQL - GeeksforGeeks">
            <a:extLst>
              <a:ext uri="{FF2B5EF4-FFF2-40B4-BE49-F238E27FC236}">
                <a16:creationId xmlns:a16="http://schemas.microsoft.com/office/drawing/2014/main" id="{294D0AFF-4BDC-09CC-DB06-348D38025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755" y="1759965"/>
            <a:ext cx="6747232" cy="389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99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1DB4-8EDD-5586-50EC-0F841DD01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799" y="589929"/>
            <a:ext cx="9603275" cy="1049235"/>
          </a:xfrm>
        </p:spPr>
        <p:txBody>
          <a:bodyPr/>
          <a:lstStyle/>
          <a:p>
            <a:r>
              <a:rPr lang="en-IN" dirty="0"/>
              <a:t>Storage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A0E91F-9571-0329-D2CC-32B6C36B1243}"/>
              </a:ext>
            </a:extLst>
          </p:cNvPr>
          <p:cNvSpPr txBox="1"/>
          <p:nvPr/>
        </p:nvSpPr>
        <p:spPr>
          <a:xfrm>
            <a:off x="818535" y="1114547"/>
            <a:ext cx="7725697" cy="5168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IN" sz="2400" b="1" dirty="0"/>
          </a:p>
          <a:p>
            <a:pPr>
              <a:lnSpc>
                <a:spcPct val="150000"/>
              </a:lnSpc>
              <a:buNone/>
            </a:pPr>
            <a:r>
              <a:rPr lang="en-IN" sz="2400" b="1" dirty="0"/>
              <a:t>Purpose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Manages how data is stored and retrieved from the database.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/>
              <a:t>Functions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Stores database files.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Manages indexes and buffers.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Retrieves data efficiently.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Handles disk space allocation.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/>
              <a:t>Benefits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Fast data access.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Efficient storage management.</a:t>
            </a:r>
          </a:p>
        </p:txBody>
      </p:sp>
    </p:spTree>
    <p:extLst>
      <p:ext uri="{BB962C8B-B14F-4D97-AF65-F5344CB8AC3E}">
        <p14:creationId xmlns:p14="http://schemas.microsoft.com/office/powerpoint/2010/main" val="3915640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9C43-5A52-91FB-F756-7B37D3FAC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6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CE71A-B2E3-5B50-72FA-CC507C8DF9E9}"/>
              </a:ext>
            </a:extLst>
          </p:cNvPr>
          <p:cNvSpPr txBox="1"/>
          <p:nvPr/>
        </p:nvSpPr>
        <p:spPr>
          <a:xfrm>
            <a:off x="463346" y="1126287"/>
            <a:ext cx="10655710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safe and reliable execution of database transactions.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Starts, commits, and rolls back transactions.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concurrent access.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recovery after failures.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properties: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Durability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transaction processing.</a:t>
            </a:r>
          </a:p>
        </p:txBody>
      </p:sp>
      <p:pic>
        <p:nvPicPr>
          <p:cNvPr id="5" name="Picture 4" descr="Transaction Control in DBMS - GeeksforGeeks">
            <a:extLst>
              <a:ext uri="{FF2B5EF4-FFF2-40B4-BE49-F238E27FC236}">
                <a16:creationId xmlns:a16="http://schemas.microsoft.com/office/drawing/2014/main" id="{9725ECD3-791C-DC50-AD89-7B58A2682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174" y="1195912"/>
            <a:ext cx="6096000" cy="514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787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68D1-0E0B-8A39-2752-095EF1B9C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DB371-1F49-0311-6F9A-DB14665ADF23}"/>
              </a:ext>
            </a:extLst>
          </p:cNvPr>
          <p:cNvSpPr txBox="1"/>
          <p:nvPr/>
        </p:nvSpPr>
        <p:spPr>
          <a:xfrm>
            <a:off x="924233" y="1690688"/>
            <a:ext cx="6096000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Query Processor:</a:t>
            </a:r>
            <a:r>
              <a:rPr lang="en-IN" dirty="0"/>
              <a:t> Parses, optimizes, and executes SQL queries. </a:t>
            </a:r>
          </a:p>
          <a:p>
            <a:pPr>
              <a:lnSpc>
                <a:spcPct val="150000"/>
              </a:lnSpc>
            </a:pPr>
            <a:r>
              <a:rPr lang="en-IN" b="1" dirty="0"/>
              <a:t>Storage Manager:</a:t>
            </a:r>
            <a:r>
              <a:rPr lang="en-IN" dirty="0"/>
              <a:t> Manages data storage and retrieval. 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Transaction Manager:</a:t>
            </a:r>
            <a:r>
              <a:rPr lang="en-IN" dirty="0"/>
              <a:t> Ensures reliable and consistent transaction execution.</a:t>
            </a:r>
          </a:p>
        </p:txBody>
      </p:sp>
    </p:spTree>
    <p:extLst>
      <p:ext uri="{BB962C8B-B14F-4D97-AF65-F5344CB8AC3E}">
        <p14:creationId xmlns:p14="http://schemas.microsoft.com/office/powerpoint/2010/main" val="4294209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0622-FF23-381F-E669-251C16D55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6AA3F-511E-D718-A862-110064837FFD}"/>
              </a:ext>
            </a:extLst>
          </p:cNvPr>
          <p:cNvSpPr txBox="1"/>
          <p:nvPr/>
        </p:nvSpPr>
        <p:spPr>
          <a:xfrm>
            <a:off x="838200" y="1690688"/>
            <a:ext cx="92103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/>
              <a:t>Abraham Silberschatz, Henry F. Korth, and S. Sudarshan, Database System Concepts, 7th Edition, McGraw-Hill Education, 2019.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/>
              <a:t>Raghu Ramakrishnan and Johannes Gehrke, Database Management Systems, 3rd Edition, McGraw-Hill Education, 2003.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/>
              <a:t>Ramez Elmasri and Shamkant B. Navathe, Fundamentals of Database Systems, 7th Edition, Pearson, 2016.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/>
              <a:t>Hector Garcia-Molina, Jeffrey D. Ullman, and Jennifer Widom, Database Systems: The Complete Book, 2nd Edition, Pearson, 2008.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/>
              <a:t> Oracle Corporation, Oracle Database Documentation. </a:t>
            </a:r>
            <a:r>
              <a:rPr lang="en-IN" i="1" dirty="0">
                <a:hlinkClick r:id="rId2"/>
              </a:rPr>
              <a:t>https://docs.oracle.com/en/database/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991196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339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The software components of a DBMS, explaining query processor, storage manager, and transaction manager.</vt:lpstr>
      <vt:lpstr>Introduction to DBMS</vt:lpstr>
      <vt:lpstr>Query Processor</vt:lpstr>
      <vt:lpstr>Storage Manager</vt:lpstr>
      <vt:lpstr>Transaction Manager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918106791877</dc:creator>
  <cp:lastModifiedBy>918106791877</cp:lastModifiedBy>
  <cp:revision>1</cp:revision>
  <dcterms:created xsi:type="dcterms:W3CDTF">2026-07-23T08:48:19Z</dcterms:created>
  <dcterms:modified xsi:type="dcterms:W3CDTF">2026-07-23T09:17:28Z</dcterms:modified>
</cp:coreProperties>
</file>